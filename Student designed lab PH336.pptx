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Montserrat"/>
      <p:regular r:id="rId13"/>
      <p:bold r:id="rId14"/>
      <p:italic r:id="rId15"/>
      <p:boldItalic r:id="rId16"/>
    </p:embeddedFont>
    <p:embeddedFont>
      <p:font typeface="Lat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Montserrat-regular.fnt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ontserrat-italic.fntdata"/><Relationship Id="rId14" Type="http://schemas.openxmlformats.org/officeDocument/2006/relationships/font" Target="fonts/Montserrat-bold.fntdata"/><Relationship Id="rId17" Type="http://schemas.openxmlformats.org/officeDocument/2006/relationships/font" Target="fonts/Lato-regular.fntdata"/><Relationship Id="rId16" Type="http://schemas.openxmlformats.org/officeDocument/2006/relationships/font" Target="fonts/Montserrat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italic.fntdata"/><Relationship Id="rId6" Type="http://schemas.openxmlformats.org/officeDocument/2006/relationships/slide" Target="slides/slide1.xml"/><Relationship Id="rId18" Type="http://schemas.openxmlformats.org/officeDocument/2006/relationships/font" Target="fonts/La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1f87997393_0_7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1f87997393_0_7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c833eeb8f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2c833eeb8f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c833eeb8f2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2c833eeb8f2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c833eeb8f2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2c833eeb8f2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2c848205cc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2c848205cc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2c833eeb8f2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2c833eeb8f2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c9f49e0016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2c9f49e001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hyperlink" Target="http://drive.google.com/file/d/1uImi_ugrwhQ-PFAV8BTk5bk8Hd2L0YV8/view" TargetMode="External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9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6.png"/><Relationship Id="rId8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155100" y="1273075"/>
            <a:ext cx="5988900" cy="24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Final Project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Student Designed Lab: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Physical Model for a Spring Pendulum</a:t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-GB"/>
              <a:t>Karina Winn, Alex Blad, Kylee Thomas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Method of Collecting Data</a:t>
            </a:r>
            <a:endParaRPr/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1297500" y="19490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Made set-up with form of measurement (rulers connected)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Video recorded with 15 fps and collected points of location of mass for each frame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Measured approximate measurements (m,l,k,h) for starting variables of gradient code</a:t>
            </a:r>
            <a:endParaRPr/>
          </a:p>
        </p:txBody>
      </p:sp>
      <p:pic>
        <p:nvPicPr>
          <p:cNvPr id="142" name="Google Shape;14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8800" y="152400"/>
            <a:ext cx="2721770" cy="48387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5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Challenges</a:t>
            </a:r>
            <a:endParaRPr/>
          </a:p>
        </p:txBody>
      </p:sp>
      <p:sp>
        <p:nvSpPr>
          <p:cNvPr id="148" name="Google Shape;148;p15"/>
          <p:cNvSpPr txBox="1"/>
          <p:nvPr>
            <p:ph idx="1" type="body"/>
          </p:nvPr>
        </p:nvSpPr>
        <p:spPr>
          <a:xfrm>
            <a:off x="1297500" y="1608525"/>
            <a:ext cx="3965700" cy="30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-GB"/>
              <a:t>Measuring position of mass: (protractor didn’t work well)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-GB"/>
              <a:t>Video analysis: how to log data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-GB"/>
              <a:t>Code: many local minima, troublesome fit equations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Approximations made: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-GB"/>
              <a:t>Small angle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-GB"/>
              <a:t>Used </a:t>
            </a:r>
            <a:r>
              <a:rPr lang="en-GB"/>
              <a:t>only </a:t>
            </a:r>
            <a:r>
              <a:rPr lang="en-GB"/>
              <a:t>2 dimensions, there may have been slight movement in the third dimension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-GB"/>
              <a:t>Damping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-GB"/>
              <a:t>Axis friction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-GB"/>
              <a:t>Massless spring</a:t>
            </a:r>
            <a:endParaRPr/>
          </a:p>
        </p:txBody>
      </p:sp>
      <p:pic>
        <p:nvPicPr>
          <p:cNvPr id="149" name="Google Shape;149;p15" title="Untitled video - Made with Clipchamp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05925" y="317150"/>
            <a:ext cx="5846533" cy="4384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6"/>
          <p:cNvSpPr txBox="1"/>
          <p:nvPr>
            <p:ph type="title"/>
          </p:nvPr>
        </p:nvSpPr>
        <p:spPr>
          <a:xfrm>
            <a:off x="1297500" y="393750"/>
            <a:ext cx="3798900" cy="96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an accurate fit model</a:t>
            </a:r>
            <a:endParaRPr/>
          </a:p>
        </p:txBody>
      </p:sp>
      <p:sp>
        <p:nvSpPr>
          <p:cNvPr id="155" name="Google Shape;155;p16"/>
          <p:cNvSpPr txBox="1"/>
          <p:nvPr>
            <p:ph idx="1" type="body"/>
          </p:nvPr>
        </p:nvSpPr>
        <p:spPr>
          <a:xfrm>
            <a:off x="780300" y="1487475"/>
            <a:ext cx="3003300" cy="18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/>
              <a:t>Lagrange equations:</a:t>
            </a:r>
            <a:endParaRPr sz="14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/>
              <a:t>2 degrees of freedom - </a:t>
            </a:r>
            <a:r>
              <a:rPr lang="en-GB" sz="1400"/>
              <a:t>r (length of the spring) &amp; Φ (angle of pendulum from vertical)</a:t>
            </a:r>
            <a:endParaRPr sz="14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400"/>
              <a:t>r = l (equilibrium length of spring) + </a:t>
            </a:r>
            <a:r>
              <a:rPr lang="en-GB" sz="1400"/>
              <a:t>𝝐</a:t>
            </a:r>
            <a:r>
              <a:rPr lang="en-GB" sz="1400"/>
              <a:t> </a:t>
            </a:r>
            <a:r>
              <a:rPr lang="en-GB" sz="1400"/>
              <a:t> </a:t>
            </a:r>
            <a:r>
              <a:rPr lang="en-GB" sz="1400"/>
              <a:t>(radial change from spring equilibrium)</a:t>
            </a:r>
            <a:endParaRPr sz="1400"/>
          </a:p>
        </p:txBody>
      </p:sp>
      <p:sp>
        <p:nvSpPr>
          <p:cNvPr id="156" name="Google Shape;156;p16"/>
          <p:cNvSpPr txBox="1"/>
          <p:nvPr/>
        </p:nvSpPr>
        <p:spPr>
          <a:xfrm>
            <a:off x="780300" y="3364400"/>
            <a:ext cx="379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After small angle approximations: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57" name="Google Shape;15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68688" y="1689905"/>
            <a:ext cx="1198800" cy="5284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89262" y="1044812"/>
            <a:ext cx="1157674" cy="52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89250" y="2345518"/>
            <a:ext cx="4145499" cy="4458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868688" y="2918513"/>
            <a:ext cx="3377570" cy="44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112977" y="1689900"/>
            <a:ext cx="2301898" cy="52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883225" y="3764600"/>
            <a:ext cx="3377550" cy="123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6"/>
          <p:cNvPicPr preferRelativeResize="0"/>
          <p:nvPr/>
        </p:nvPicPr>
        <p:blipFill rotWithShape="1">
          <a:blip r:embed="rId9">
            <a:alphaModFix/>
          </a:blip>
          <a:srcRect b="0" l="5707" r="4975" t="13778"/>
          <a:stretch/>
        </p:blipFill>
        <p:spPr>
          <a:xfrm>
            <a:off x="6112950" y="1034250"/>
            <a:ext cx="2657625" cy="528525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6"/>
          <p:cNvSpPr/>
          <p:nvPr/>
        </p:nvSpPr>
        <p:spPr>
          <a:xfrm>
            <a:off x="5257088" y="1761700"/>
            <a:ext cx="666300" cy="384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5" name="Google Shape;165;p16"/>
          <p:cNvSpPr/>
          <p:nvPr/>
        </p:nvSpPr>
        <p:spPr>
          <a:xfrm>
            <a:off x="5271525" y="1102563"/>
            <a:ext cx="666300" cy="384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7"/>
          <p:cNvSpPr txBox="1"/>
          <p:nvPr>
            <p:ph type="title"/>
          </p:nvPr>
        </p:nvSpPr>
        <p:spPr>
          <a:xfrm>
            <a:off x="1297500" y="393750"/>
            <a:ext cx="63495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Method of minimizing Chi^2 / Optimizing fit variables</a:t>
            </a:r>
            <a:endParaRPr/>
          </a:p>
        </p:txBody>
      </p:sp>
      <p:sp>
        <p:nvSpPr>
          <p:cNvPr id="171" name="Google Shape;171;p17"/>
          <p:cNvSpPr txBox="1"/>
          <p:nvPr>
            <p:ph idx="1" type="body"/>
          </p:nvPr>
        </p:nvSpPr>
        <p:spPr>
          <a:xfrm>
            <a:off x="773100" y="170230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Gradient Search Method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New fit equations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Lots of local minima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Fitting parabola to the last three points</a:t>
            </a:r>
            <a:endParaRPr/>
          </a:p>
        </p:txBody>
      </p:sp>
      <p:pic>
        <p:nvPicPr>
          <p:cNvPr id="172" name="Google Shape;17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85800" y="1886850"/>
            <a:ext cx="4254775" cy="1689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8"/>
          <p:cNvSpPr txBox="1"/>
          <p:nvPr>
            <p:ph type="title"/>
          </p:nvPr>
        </p:nvSpPr>
        <p:spPr>
          <a:xfrm>
            <a:off x="1297500" y="393750"/>
            <a:ext cx="1771800" cy="58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Results</a:t>
            </a:r>
            <a:endParaRPr/>
          </a:p>
        </p:txBody>
      </p:sp>
      <p:sp>
        <p:nvSpPr>
          <p:cNvPr id="178" name="Google Shape;178;p18"/>
          <p:cNvSpPr txBox="1"/>
          <p:nvPr>
            <p:ph idx="1" type="body"/>
          </p:nvPr>
        </p:nvSpPr>
        <p:spPr>
          <a:xfrm>
            <a:off x="221325" y="1396925"/>
            <a:ext cx="4430100" cy="35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/>
              <a:t>Φ Equation: A = -0.125 ±1.586e-10, C = 1.900 </a:t>
            </a:r>
            <a:r>
              <a:rPr lang="en-GB" sz="1400"/>
              <a:t>±</a:t>
            </a:r>
            <a:r>
              <a:rPr lang="en-GB" sz="1400"/>
              <a:t> 9.518e-09, l = 0.325 </a:t>
            </a:r>
            <a:r>
              <a:rPr lang="en-GB" sz="1400"/>
              <a:t>± </a:t>
            </a:r>
            <a:r>
              <a:rPr lang="en-GB" sz="1400"/>
              <a:t>6.345e-11, δ: 0.098 ± 3.173e-10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/>
              <a:t>B: 0.260 ± 6.345e-10 (probably not valid)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/>
              <a:t>Measured l = 0.261 ± 0.002 m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/>
              <a:t>Chi Squared: 13.825, Correlation Coefficient: 0.923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/>
              <a:t>𝝐 Equation: B = 0.001 ± 9.463e-12, C = 0.030 ± 4.731e-11, β = 4.380e-5 ± 2.366e-14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/>
              <a:t>A = 0.040 ± 4.731e-11, δ = -0.400 ± 9.463e-10 (probably not valid)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400"/>
              <a:t>Chi Squared: 51.386, Correlation Coefficient: 0.175</a:t>
            </a:r>
            <a:endParaRPr sz="1400"/>
          </a:p>
        </p:txBody>
      </p:sp>
      <p:pic>
        <p:nvPicPr>
          <p:cNvPr id="179" name="Google Shape;17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07800" y="164989"/>
            <a:ext cx="4267201" cy="2312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07800" y="2616804"/>
            <a:ext cx="4267202" cy="22995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9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Future Experiments</a:t>
            </a:r>
            <a:endParaRPr/>
          </a:p>
        </p:txBody>
      </p:sp>
      <p:sp>
        <p:nvSpPr>
          <p:cNvPr id="186" name="Google Shape;186;p19"/>
          <p:cNvSpPr txBox="1"/>
          <p:nvPr>
            <p:ph idx="1" type="body"/>
          </p:nvPr>
        </p:nvSpPr>
        <p:spPr>
          <a:xfrm>
            <a:off x="708000" y="1644250"/>
            <a:ext cx="77280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/>
              <a:t>Better measuring equipment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/>
              <a:t>Optimization technique that handles local minima better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/>
              <a:t>What happened with B parameter (phi equation), A and δ (epsilon equation)? Fix code accordingly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/>
              <a:t>Physical meaning for other coefficients (whether they have to do with friction/</a:t>
            </a:r>
            <a:r>
              <a:rPr lang="en-GB" sz="1400"/>
              <a:t>damping</a:t>
            </a:r>
            <a:r>
              <a:rPr lang="en-GB" sz="1400"/>
              <a:t>, etc.)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